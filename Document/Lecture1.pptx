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1" r:id="rId14"/>
    <p:sldId id="282" r:id="rId15"/>
    <p:sldId id="283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0" r:id="rId24"/>
    <p:sldId id="291" r:id="rId25"/>
    <p:sldId id="278" r:id="rId26"/>
    <p:sldId id="279" r:id="rId27"/>
    <p:sldId id="280" r:id="rId28"/>
    <p:sldId id="285" r:id="rId29"/>
    <p:sldId id="284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4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student. Explain that this first lecture is not about machine learning yet; it builds the physical story behind the later ML project. Tell them the goal is to understand why cosmologists need indirect observational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outcomes. Make clear that these outcomes are conceptual and exam-like: define, explain evidence, connect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scientific method in cosmology: observe, model, infer. Ask the student what information is carried by light: brightness, color, direction, shape,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scale ladder to ground the student. Mention that powers of ten are a useful language for astronomy. Cosmology is not different physics everywhere; it uses physics at different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lookback time. Give an analogy: seeing the Sun as it was about 8 minutes ago. Then scale up to galaxies: millions to billions of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common misconception. The Big Bang model describes how the scale of the universe changes with time. It does not require a center in ordinary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overload with details. The main story is: early universe is smooth and hot; small ripples grow into galaxies and cosmic web. Mention that the CMB is the next important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raisin bread analogy. Make it precise: raisins are galaxies; dough is space. Warn that the analogy has limits because bread has an outside but the universe does not need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redshift is not simply a Doppler shift from motion through space; on cosmological scales it is often light being stretched by expanding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spend time deriving the equation. Emphasize the observed pattern: farther galaxies have larger redshifts. This supports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transparency: before atoms formed, light scattered constantly. Around 375,000 years after the Big Bang, light could travel freely. The map is not a photo of galaxies; it is a temperature map of early radiation.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key idea: small differences in density or temperature become the starting points for gravity to build cosmic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cosmic web vocabulary. Point out that galaxies are not randomly scattered; their pattern contains information about cosmic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81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a vocabulary slide. Ask the student to repeat definitions or give analogies. Keep “halo” tied to dark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3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gravity as an amplifier: more matter pulls in more matter, making a contrast stronger over time. Do not discuss perturbation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66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approximate ΛCDM composition values. Tell the student this is not a chemistry pie chart; it is mass-energy density of the universe.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matter is not just “dark stuff”; it is a placeholder for matter-like gravity not accounted for by visible matter. Avoid discussing specific particles too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axes. The exact numbers are less important than the shape: visible matter predicts declining speed, observed speed remains flatter.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mental model. A halo is not a glowing halo; it is a spatial distribution of mass inferred from gravitational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lensing only as a preview. Strong lensing can make arcs; weak lensing makes tiny statistical distortions. The actual weak lensing lecture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converging evidence. Ask the student: why is multiple independent evidence stronger than a single observation?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conceptual. The word dark energy is a label for the phenomenon in the standard model; its physical nature is still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 the NASA graphic: expansion history is not constant speed. It changed as the universe changed. Mention that measuring this history is a major goal of surveys.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simplified intuition; be precise that gravity does not stop expansion everywhere because expansion is a property of the cosmic scale factor. This slide is for intuition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back to the project. Intrinsic alignment is one example of a systematic effect that can bias cosmological inference. Do not explain IA in detail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observational probe explicitly. Make the ethical/scientific reasoning link: robust claims require multiple measurements and clear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links cosmology to data science. A survey is a measurement pipeline. The final numbers depend on assumptions and systematic error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44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preview only. Do not explain intrinsic alignment deeply. The key is that weak lensing is an observational probe of matter, but the measured galaxy shapes are not pure lensing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 to pick one row and explain it aloud. This practices evidence-to-claim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and ask the student which idea feels most intuitive and which feels most confusing.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assignment should be written in their own words. It is acceptable to use analogies from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smology_assets/hubble_deep_field_dark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2344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Decoding the Universe’s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Hidden Distortions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8952" y="2697480"/>
            <a:ext cx="1737360" cy="0"/>
          </a:xfrm>
          <a:prstGeom prst="line">
            <a:avLst/>
          </a:prstGeom>
          <a:noFill/>
          <a:ln w="381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8096" y="2926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2D6FF"/>
                </a:solidFill>
              </a:rPr>
              <a:t>Lecture 1 · Cosmology Background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68096" y="33101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8FF"/>
                </a:solidFill>
              </a:rPr>
              <a:t>Big Bang · expansion · dark matter · dark energy · cosmic web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Hubble Deep Field, NASA/ESA/STScI</a:t>
            </a:r>
            <a:endParaRPr lang="en-US" sz="620" dirty="0"/>
          </a:p>
        </p:txBody>
      </p:sp>
      <p:sp>
        <p:nvSpPr>
          <p:cNvPr id="10" name="Text 6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By the end of this 2-hour lecture, the student should be able to say: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84048" cy="384048"/>
          </a:xfrm>
          <a:prstGeom prst="chevron">
            <a:avLst/>
          </a:prstGeom>
          <a:solidFill>
            <a:srgbClr val="52D6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2588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8FF"/>
                </a:solidFill>
              </a:rPr>
              <a:t>Expansion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10128" y="1618488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The universe is expanding; distant light is redshifted.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350008"/>
            <a:ext cx="384048" cy="384048"/>
          </a:xfrm>
          <a:prstGeom prst="chevron">
            <a:avLst/>
          </a:prstGeom>
          <a:solidFill>
            <a:srgbClr val="52D6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8FF"/>
                </a:solidFill>
              </a:rPr>
              <a:t>Big Bang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10128" y="2368296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The early universe was hot, dense, and simple.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099816"/>
            <a:ext cx="384048" cy="384048"/>
          </a:xfrm>
          <a:prstGeom prst="chevron">
            <a:avLst/>
          </a:prstGeom>
          <a:solidFill>
            <a:srgbClr val="52D6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8FF"/>
                </a:solidFill>
              </a:rPr>
              <a:t>Dark matter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10128" y="311810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Extra gravity is needed to explain galaxies and clusters.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chevron">
            <a:avLst/>
          </a:prstGeom>
          <a:solidFill>
            <a:srgbClr val="52D6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2588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8FF"/>
                </a:solidFill>
              </a:rPr>
              <a:t>Dark energy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310128" y="386791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Cosmic expansion is accelerating today.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4599432"/>
            <a:ext cx="384048" cy="384048"/>
          </a:xfrm>
          <a:prstGeom prst="chevron">
            <a:avLst/>
          </a:prstGeom>
          <a:solidFill>
            <a:srgbClr val="52D6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325880" y="4581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8FF"/>
                </a:solidFill>
              </a:rPr>
              <a:t>Structure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310128" y="461772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The cosmic web motivates observational probes.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Cosmology is detective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We cannot experiment with the whole universe. We infer its history from signals that reach us.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hubble_deep_field.jpg"/>
          <p:cNvPicPr>
            <a:picLocks noChangeAspect="1"/>
          </p:cNvPicPr>
          <p:nvPr/>
        </p:nvPicPr>
        <p:blipFill>
          <a:blip r:embed="rId3"/>
          <a:srcRect l="11316" r="11316"/>
          <a:stretch/>
        </p:blipFill>
        <p:spPr>
          <a:xfrm>
            <a:off x="6858000" y="1188720"/>
            <a:ext cx="448056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1188720"/>
            <a:ext cx="4480560" cy="434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2D6FF"/>
                </a:solidFill>
              </a:rPr>
              <a:t>Observation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1975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8FF"/>
                </a:solidFill>
              </a:rPr>
              <a:t>Light from galaxies, spectra, shapes, maps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051560" y="2834640"/>
            <a:ext cx="4251960" cy="0"/>
          </a:xfrm>
          <a:prstGeom prst="line">
            <a:avLst/>
          </a:prstGeom>
          <a:noFill/>
          <a:ln w="1651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</a:rPr>
              <a:t>Physical model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" y="3529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8FF"/>
                </a:solidFill>
              </a:rPr>
              <a:t>Expansion, gravity, matter, energy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51560" y="4389120"/>
            <a:ext cx="4251960" cy="0"/>
          </a:xfrm>
          <a:prstGeom prst="line">
            <a:avLst/>
          </a:prstGeom>
          <a:noFill/>
          <a:ln w="1651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7724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Inference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0840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8FF"/>
                </a:solidFill>
              </a:rPr>
              <a:t>What must the universe be like?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Hubble Deep Field, NASA/ESA/STScI</a:t>
            </a:r>
            <a:endParaRPr lang="en-US" sz="620" dirty="0"/>
          </a:p>
        </p:txBody>
      </p:sp>
      <p:sp>
        <p:nvSpPr>
          <p:cNvPr id="19" name="Text 15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ladder: where are we?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Cosmology studies the largest scales, but starts from familiar physics.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4D7CFE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5156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Human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 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581912" y="2359152"/>
            <a:ext cx="987552" cy="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606040" y="2011680"/>
            <a:ext cx="685800" cy="685800"/>
          </a:xfrm>
          <a:prstGeom prst="ellipse">
            <a:avLst/>
          </a:prstGeom>
          <a:solidFill>
            <a:srgbClr val="4D7CFE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3464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Earth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10⁷ 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64992" y="2359152"/>
            <a:ext cx="987552" cy="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685800" cy="685800"/>
          </a:xfrm>
          <a:prstGeom prst="ellipse">
            <a:avLst/>
          </a:prstGeom>
          <a:solidFill>
            <a:srgbClr val="4D7CFE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1772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8620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Solar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10¹³ 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48072" y="2359152"/>
            <a:ext cx="987552" cy="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172200" y="2011680"/>
            <a:ext cx="685800" cy="685800"/>
          </a:xfrm>
          <a:prstGeom prst="ellipse">
            <a:avLst/>
          </a:prstGeom>
          <a:solidFill>
            <a:srgbClr val="A78BFA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Milky Way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10²¹ 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31152" y="2359152"/>
            <a:ext cx="987552" cy="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955280" y="2011680"/>
            <a:ext cx="685800" cy="685800"/>
          </a:xfrm>
          <a:prstGeom prst="ellipse">
            <a:avLst/>
          </a:prstGeom>
          <a:solidFill>
            <a:srgbClr val="A78BFA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18388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Galaxy clusters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10²³ 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14232" y="2359152"/>
            <a:ext cx="987552" cy="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738360" y="2011680"/>
            <a:ext cx="685800" cy="685800"/>
          </a:xfrm>
          <a:prstGeom prst="ellipse">
            <a:avLst/>
          </a:prstGeom>
          <a:solidFill>
            <a:srgbClr val="F472B6">
              <a:alpha val="8800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966960" y="2212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Cosmic web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35440" y="3218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C4D8"/>
                </a:solidFill>
              </a:rPr>
              <a:t>10²⁶ 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515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Key link: gravity is the same force, but the objects and distances become enormous.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far away means looking back in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Light travels at a finite speed. Distant galaxies show the universe when it was younger.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hubble_deep_field.jpg"/>
          <p:cNvPicPr>
            <a:picLocks noChangeAspect="1"/>
          </p:cNvPicPr>
          <p:nvPr/>
        </p:nvPicPr>
        <p:blipFill>
          <a:blip r:embed="rId3"/>
          <a:srcRect l="9848" r="9848"/>
          <a:stretch/>
        </p:blipFill>
        <p:spPr>
          <a:xfrm>
            <a:off x="640080" y="1417320"/>
            <a:ext cx="484632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17320"/>
            <a:ext cx="4846320" cy="4526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D6FF"/>
                </a:solidFill>
              </a:rPr>
              <a:t>Nearby galaxy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057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4D8"/>
                </a:solidFill>
              </a:rPr>
              <a:t>shorter lookback time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2880360"/>
            <a:ext cx="3657600" cy="0"/>
          </a:xfrm>
          <a:prstGeom prst="line">
            <a:avLst/>
          </a:prstGeom>
          <a:noFill/>
          <a:ln w="1905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Farther galaxy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37033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4D8"/>
                </a:solidFill>
              </a:rPr>
              <a:t>longer lookback time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4526280"/>
            <a:ext cx="36576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09360" y="5230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166"/>
                </a:solidFill>
              </a:rPr>
              <a:t>This is why telescopes are also time machines.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Hubble Deep Field, NASA/ESA/STScI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Bang is not “an explosion into space”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It is the idea that the universe itself was hotter, denser, and smaller in the past.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</a:rPr>
              <a:t>Common picture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C4D8"/>
                </a:solidFill>
              </a:rPr>
              <a:t>Matter flying into empty 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514600"/>
            <a:ext cx="1371600" cy="1371600"/>
          </a:xfrm>
          <a:prstGeom prst="irregularSeal1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154680" y="3200400"/>
            <a:ext cx="109728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154680" y="3200400"/>
            <a:ext cx="1097280" cy="54864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D6FF"/>
                </a:solidFill>
              </a:rPr>
              <a:t>Better picture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C4D8"/>
                </a:solidFill>
              </a:rPr>
              <a:t>Space expands; all large distances grow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56032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40880" y="306324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040880" y="356616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0" y="256032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772400" y="306324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72400" y="356616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256032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503920" y="306324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03920" y="356616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35440" y="256032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235440" y="306324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235440" y="356616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966960" y="256032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966960" y="306324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966960" y="3566160"/>
            <a:ext cx="109728" cy="109728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720840" y="41148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720840" y="47091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720840" y="53035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635240" y="41148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635240" y="47091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635240" y="53035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49640" y="41148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49640" y="47091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49640" y="53035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9464040" y="41148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464040" y="47091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64040" y="53035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378440" y="41148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378440" y="47091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0378440" y="53035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406640" y="3794760"/>
            <a:ext cx="274320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315200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C4D8"/>
                </a:solidFill>
              </a:rPr>
              <a:t>earlier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0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C4D8"/>
                </a:solidFill>
              </a:rPr>
              <a:t>later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55595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Do not ask: “Where did it explode?”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Ask: “How has space changed with time?”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 timeline of cosmic history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We will use this timeline many times during the course.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9966960" cy="0"/>
          </a:xfrm>
          <a:prstGeom prst="line">
            <a:avLst/>
          </a:prstGeom>
          <a:noFill/>
          <a:ln w="2540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" y="2816352"/>
            <a:ext cx="310896" cy="3108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8288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Hot dense universe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4D8"/>
                </a:solidFill>
              </a:rPr>
              <a:t>Very early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62072" y="2816352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24028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CMB released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4D8"/>
                </a:solidFill>
              </a:rPr>
              <a:t>~375k years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19472" y="281635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9768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First stars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4D8"/>
                </a:solidFill>
              </a:rPr>
              <a:t>hundreds of Myr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76872" y="281635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5508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Galaxies grow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4D8"/>
                </a:solidFill>
              </a:rPr>
              <a:t>billions of years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52D6FF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1248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Today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C4D8"/>
                </a:solidFill>
              </a:rPr>
              <a:t>13.8 billion years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45920" y="50749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52D6FF"/>
                </a:solidFill>
              </a:rPr>
              <a:t>The universe changes from simple → structured.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 analogy: raisins in rising bread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Every raisin sees other raisins moving away as the dough expands.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840480" cy="2377440"/>
          </a:xfrm>
          <a:prstGeom prst="roundRect">
            <a:avLst>
              <a:gd name="adj" fmla="val 6923"/>
            </a:avLst>
          </a:prstGeom>
          <a:solidFill>
            <a:srgbClr val="A76F43">
              <a:alpha val="85000"/>
            </a:srgbClr>
          </a:solidFill>
          <a:ln w="12700">
            <a:solidFill>
              <a:srgbClr val="E8B8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Earlier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228600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103120" y="283464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0" y="233172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749040" y="338328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74920" y="3017520"/>
            <a:ext cx="182880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0" y="1463040"/>
            <a:ext cx="4114800" cy="3017520"/>
          </a:xfrm>
          <a:prstGeom prst="roundRect">
            <a:avLst>
              <a:gd name="adj" fmla="val 5455"/>
            </a:avLst>
          </a:prstGeom>
          <a:solidFill>
            <a:srgbClr val="A76F43">
              <a:alpha val="85000"/>
            </a:srgbClr>
          </a:solidFill>
          <a:ln w="12700">
            <a:solidFill>
              <a:srgbClr val="E8B8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732520" y="1216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Later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732520" y="274320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601200" y="210312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698480" y="379476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83880" y="3977640"/>
            <a:ext cx="164592" cy="164592"/>
          </a:xfrm>
          <a:prstGeom prst="ellipse">
            <a:avLst/>
          </a:prstGeom>
          <a:solidFill>
            <a:srgbClr val="3A1A0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525780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Important: this analogy helps with distances, not with edges or outside space.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Redshift: expansion stretches light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A longer wavelength means light shifts toward red/infrared.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redshift_expa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715" y="1325880"/>
            <a:ext cx="695353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5989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Key link</a:t>
            </a:r>
            <a:r>
              <a:rPr lang="en-US" sz="1700" b="1" dirty="0">
                <a:solidFill>
                  <a:srgbClr val="FFD166"/>
                </a:solidFill>
              </a:rPr>
              <a:t>: wavelength ↑ means frequency ↓.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NASA/ESA/STScI, cosmological redshift diagram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Hubble’s law: farther galaxies appear to recede faster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At low redshift, velocity is roughly proportional to distance: v ≈ H₀D.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43000" y="5257800"/>
            <a:ext cx="47548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5257800"/>
            <a:ext cx="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971800" y="5577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4D8"/>
                </a:solidFill>
              </a:rPr>
              <a:t>distance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32004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4D8"/>
                </a:solidFill>
              </a:rPr>
              <a:t>recession speed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5074920"/>
            <a:ext cx="4297680" cy="0"/>
          </a:xfrm>
          <a:prstGeom prst="line">
            <a:avLst/>
          </a:prstGeom>
          <a:noFill/>
          <a:ln w="3556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08760" y="475488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148840" y="448056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697480" y="379476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251960" y="265176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074920" y="205740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</a:rPr>
              <a:t>The straight-line pattern is evidence that space is expanding.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3273552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7C4D8"/>
                </a:solidFill>
              </a:rPr>
              <a:t>This is one of the most important observational discoveries in modern cosmology.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12280" y="429768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2008" y="4370832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A78BFA"/>
                </a:solidFill>
              </a:rPr>
              <a:t>Concept, not calculation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cosmic microwave background: a baby picture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The CMB is ancient light from when the universe became transparent.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cmb_w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417320"/>
            <a:ext cx="786384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58064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Tiny temperature differences later became the seeds of large-scale structure.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NASA / WMAP Science Team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CMB tells 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The early universe was almost smooth — but not perfectly smooth.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2011680" cy="2011680"/>
          </a:xfrm>
          <a:prstGeom prst="ellipse">
            <a:avLst/>
          </a:prstGeom>
          <a:solidFill>
            <a:srgbClr val="52D6FF">
              <a:alpha val="18000"/>
            </a:srgbClr>
          </a:solidFill>
          <a:ln w="152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2D6FF"/>
                </a:solidFill>
              </a:rPr>
              <a:t>Nearly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52D6FF"/>
                </a:solidFill>
              </a:rPr>
              <a:t>uniform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154680" y="2788920"/>
            <a:ext cx="457200" cy="457200"/>
          </a:xfrm>
          <a:prstGeom prst="plus">
            <a:avLst/>
          </a:prstGeom>
          <a:solidFill>
            <a:srgbClr val="B7C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206240" y="2194560"/>
            <a:ext cx="2011680" cy="2011680"/>
          </a:xfrm>
          <a:prstGeom prst="ellipse">
            <a:avLst/>
          </a:prstGeom>
          <a:solidFill>
            <a:srgbClr val="FFD166">
              <a:alpha val="15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26280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D166"/>
                </a:solidFill>
              </a:rPr>
              <a:t>Tiny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D166"/>
                </a:solidFill>
              </a:rPr>
              <a:t>ripples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37960" y="3200400"/>
            <a:ext cx="1280160" cy="0"/>
          </a:xfrm>
          <a:prstGeom prst="line">
            <a:avLst/>
          </a:prstGeom>
          <a:noFill/>
          <a:ln w="1905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75320" y="2148840"/>
            <a:ext cx="2194560" cy="2194560"/>
          </a:xfrm>
          <a:prstGeom prst="hexagon">
            <a:avLst/>
          </a:prstGeom>
          <a:solidFill>
            <a:srgbClr val="A78BFA">
              <a:alpha val="17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41080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</a:rPr>
              <a:t>Future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</a:rPr>
              <a:t>galaxies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53035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8FF"/>
                </a:solidFill>
              </a:rPr>
              <a:t>The CMB connects the very early universe to the structure we observe today.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tiny ripples to the cosmic web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Gravity amplifies small early differences into today’s web of galaxies.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cosmic_web_nasa.jpg"/>
          <p:cNvPicPr>
            <a:picLocks noChangeAspect="1"/>
          </p:cNvPicPr>
          <p:nvPr/>
        </p:nvPicPr>
        <p:blipFill>
          <a:blip r:embed="rId3"/>
          <a:srcRect l="15561" r="15561"/>
          <a:stretch/>
        </p:blipFill>
        <p:spPr>
          <a:xfrm>
            <a:off x="594360" y="1417320"/>
            <a:ext cx="548640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737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D6FF"/>
                </a:solidFill>
              </a:rPr>
              <a:t>Filaments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1228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long threads of matter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2743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Clusters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dense nodes where galaxies gather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20840" y="3749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</a:rPr>
              <a:t>Voids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12280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large under-dense regions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8FF"/>
                </a:solidFill>
              </a:rPr>
              <a:t>This is large-scale structure.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NASA Scientific Visualization Studio / KIPAC simulation</a:t>
            </a:r>
            <a:endParaRPr lang="en-US" sz="620" dirty="0"/>
          </a:p>
        </p:txBody>
      </p:sp>
      <p:sp>
        <p:nvSpPr>
          <p:cNvPr id="17" name="Text 13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06261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Large-scale structure: vocabulary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These terms will appear repeatedly in cosmology papers.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777240" cy="777240"/>
          </a:xfrm>
          <a:prstGeom prst="ellipse">
            <a:avLst/>
          </a:prstGeom>
          <a:solidFill>
            <a:srgbClr val="FFD166">
              <a:alpha val="20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7830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F"/>
                </a:solidFill>
              </a:rPr>
              <a:t>Galaxy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4D8"/>
                </a:solidFill>
              </a:rPr>
              <a:t>billions of stars bound by gravity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777240" cy="777240"/>
          </a:xfrm>
          <a:prstGeom prst="hexagon">
            <a:avLst/>
          </a:prstGeom>
          <a:solidFill>
            <a:srgbClr val="A78BFA">
              <a:alpha val="20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F"/>
                </a:solidFill>
              </a:rPr>
              <a:t>Group / cluster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4D8"/>
                </a:solidFill>
              </a:rPr>
              <a:t>many galaxies in one dark matter halo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777240" cy="777240"/>
          </a:xfrm>
          <a:prstGeom prst="chevron">
            <a:avLst/>
          </a:prstGeom>
          <a:solidFill>
            <a:srgbClr val="52D6FF">
              <a:alpha val="20000"/>
            </a:srgbClr>
          </a:solidFill>
          <a:ln w="152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78308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F"/>
                </a:solidFill>
              </a:rPr>
              <a:t>Filament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4279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4D8"/>
                </a:solidFill>
              </a:rPr>
              <a:t>bridge connecting clusters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0" y="3840480"/>
            <a:ext cx="777240" cy="777240"/>
          </a:xfrm>
          <a:prstGeom prst="arc">
            <a:avLst/>
          </a:prstGeom>
          <a:solidFill>
            <a:srgbClr val="4D7CFE">
              <a:alpha val="20000"/>
            </a:srgbClr>
          </a:solidFill>
          <a:ln w="15240">
            <a:solidFill>
              <a:srgbClr val="4D7C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6092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8FF"/>
                </a:solidFill>
              </a:rPr>
              <a:t>Void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4279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4D8"/>
                </a:solidFill>
              </a:rPr>
              <a:t>large low-density region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27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661182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structure grows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Small differences become larger because gravity is an amplifier.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54480" y="1920240"/>
            <a:ext cx="1051560" cy="1051560"/>
          </a:xfrm>
          <a:prstGeom prst="ellipse">
            <a:avLst/>
          </a:prstGeom>
          <a:solidFill>
            <a:srgbClr val="52D6FF">
              <a:alpha val="18000"/>
            </a:srgbClr>
          </a:solidFill>
          <a:ln w="152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856232" y="2212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</a:rPr>
              <a:t>tiny density ripples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2450592"/>
            <a:ext cx="731520" cy="0"/>
          </a:xfrm>
          <a:prstGeom prst="line">
            <a:avLst/>
          </a:prstGeom>
          <a:noFill/>
          <a:ln w="1905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1051560" cy="1051560"/>
          </a:xfrm>
          <a:prstGeom prst="ellipse">
            <a:avLst/>
          </a:prstGeom>
          <a:solidFill>
            <a:srgbClr val="4D7CFE">
              <a:alpha val="18000"/>
            </a:srgbClr>
          </a:solidFill>
          <a:ln w="15240">
            <a:solidFill>
              <a:srgbClr val="4D7C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45152" y="2212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</a:rPr>
              <a:t>slightly denser regions pull matter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2450592"/>
            <a:ext cx="731520" cy="0"/>
          </a:xfrm>
          <a:prstGeom prst="line">
            <a:avLst/>
          </a:prstGeom>
          <a:noFill/>
          <a:ln w="1905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0" y="1920240"/>
            <a:ext cx="1051560" cy="1051560"/>
          </a:xfrm>
          <a:prstGeom prst="ellipse">
            <a:avLst/>
          </a:prstGeom>
          <a:solidFill>
            <a:srgbClr val="A78BFA">
              <a:alpha val="18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34072" y="2212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</a:rPr>
              <a:t>galaxies form in halos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03920" y="2450592"/>
            <a:ext cx="731520" cy="0"/>
          </a:xfrm>
          <a:prstGeom prst="line">
            <a:avLst/>
          </a:prstGeom>
          <a:noFill/>
          <a:ln w="1905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921240" y="1920240"/>
            <a:ext cx="1051560" cy="1051560"/>
          </a:xfrm>
          <a:prstGeom prst="ellipse">
            <a:avLst/>
          </a:prstGeom>
          <a:solidFill>
            <a:srgbClr val="F472B6">
              <a:alpha val="18000"/>
            </a:srgbClr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222992" y="2212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</a:rPr>
              <a:t>filaments and clusters appear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25780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This is why the CMB and galaxy surveys are connected.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28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1805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universe made of?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Most of the universe is not ordinary atoms.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9875520" cy="685800"/>
          </a:xfrm>
          <a:prstGeom prst="rect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493776" cy="685800"/>
          </a:xfrm>
          <a:prstGeom prst="rect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408176" y="2148840"/>
            <a:ext cx="2651760" cy="685800"/>
          </a:xfrm>
          <a:prstGeom prst="rect">
            <a:avLst/>
          </a:prstGeom>
          <a:solidFill>
            <a:srgbClr val="4D7C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059936" y="2148840"/>
            <a:ext cx="6729984" cy="685800"/>
          </a:xfrm>
          <a:prstGeom prst="rect">
            <a:avLst/>
          </a:prstGeom>
          <a:solidFill>
            <a:srgbClr val="F472B6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D6FF"/>
                </a:solidFill>
              </a:rPr>
              <a:t>~5% ordinary matter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7CFE"/>
                </a:solidFill>
              </a:rPr>
              <a:t>~27% dark matter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</a:rPr>
              <a:t>~68% dark energy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8FF"/>
                </a:solidFill>
              </a:rPr>
              <a:t>Numbers vary slightly by dataset, but the lesson is stable: visible matter is only a small piece.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matter: matter we infer from gravity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It does not emit much light, but it pulls on things gravitationally.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D6FF"/>
                </a:solidFill>
              </a:rPr>
              <a:t>We see: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8FF"/>
                </a:solidFill>
              </a:rPr>
              <a:t>stars, gas, galaxies, light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We measure: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8FF"/>
                </a:solidFill>
              </a:rPr>
              <a:t>gravity stronger than visible matter predicts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</a:rPr>
              <a:t>We infer: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4251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5F8FF"/>
                </a:solidFill>
              </a:rPr>
              <a:t>there is extra mass: dark matter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0" cy="2926080"/>
          </a:xfrm>
          <a:prstGeom prst="line">
            <a:avLst/>
          </a:prstGeom>
          <a:noFill/>
          <a:ln w="12700">
            <a:solidFill>
              <a:srgbClr val="B7C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829800" y="3017520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820447" y="321557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17150" y="3409846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451086" y="3531667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203541" y="3656983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899090" y="3735802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76361" y="3690909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261499" y="3656983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66050" y="3565943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809429" y="338532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644593" y="321557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62088" y="3017520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679688" y="2825854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778660" y="263745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966050" y="2469097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276693" y="239868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571155" y="232168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899090" y="2299238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188347" y="239868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475038" y="2486235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717150" y="2625194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5352" y="2825854"/>
            <a:ext cx="64008" cy="640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818120" y="2194560"/>
            <a:ext cx="2743200" cy="1920240"/>
          </a:xfrm>
          <a:prstGeom prst="ellipse">
            <a:avLst/>
          </a:prstGeom>
          <a:solidFill>
            <a:srgbClr val="4D7CFE">
              <a:alpha val="12000"/>
            </a:srgbClr>
          </a:solidFill>
          <a:ln w="19050">
            <a:solidFill>
              <a:srgbClr val="4D7C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09244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D6FF"/>
                </a:solidFill>
              </a:rPr>
              <a:t>visible galaxy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52D6FF"/>
                </a:solidFill>
              </a:rPr>
              <a:t>invisible halo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Evidence: galaxy rotation curves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Stars far from the center move too fast to be explained by visible matter alone.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galaxy_rot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576"/>
            <a:ext cx="5577840" cy="4205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</a:rPr>
              <a:t>Expected if only visible matter: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speed falls at large radius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D68A"/>
                </a:solidFill>
              </a:rPr>
              <a:t>Observed: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speed stays high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D6FF"/>
                </a:solidFill>
              </a:rPr>
              <a:t>Interpretation: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0" y="4617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an extended dark matter halo adds gravity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Matthew Newby / MilkyWay@home, educational rotation curve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matter halos: the invisible scaffolding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Galaxies are thought to sit inside larger dark matter halos.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794760" y="1508760"/>
            <a:ext cx="4572000" cy="3291840"/>
          </a:xfrm>
          <a:prstGeom prst="ellipse">
            <a:avLst/>
          </a:prstGeom>
          <a:solidFill>
            <a:srgbClr val="4D7CFE">
              <a:alpha val="10000"/>
            </a:srgbClr>
          </a:solidFill>
          <a:ln w="19050">
            <a:solidFill>
              <a:srgbClr val="4D7C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892040" y="2331720"/>
            <a:ext cx="2377440" cy="1554480"/>
          </a:xfrm>
          <a:prstGeom prst="ellipse">
            <a:avLst/>
          </a:prstGeom>
          <a:solidFill>
            <a:srgbClr val="FFD166">
              <a:alpha val="25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84648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visible galaxy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5074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D6FF"/>
                </a:solidFill>
              </a:rPr>
              <a:t>dark matter halo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71800" y="2926080"/>
            <a:ext cx="914400" cy="0"/>
          </a:xfrm>
          <a:prstGeom prst="line">
            <a:avLst/>
          </a:prstGeom>
          <a:noFill/>
          <a:ln w="1778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587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</a:rPr>
              <a:t>more mass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</a:rPr>
              <a:t>than we see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21040" y="2926080"/>
            <a:ext cx="914400" cy="0"/>
          </a:xfrm>
          <a:prstGeom prst="line">
            <a:avLst/>
          </a:prstGeom>
          <a:noFill/>
          <a:ln w="1778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7260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</a:rPr>
              <a:t>stronger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</a:rPr>
              <a:t>gravity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Evidence: clusters and lensing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Large masses bend light. This lets us map mass, including dark matter.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lensing_cluster.jpg"/>
          <p:cNvPicPr>
            <a:picLocks noChangeAspect="1"/>
          </p:cNvPicPr>
          <p:nvPr/>
        </p:nvPicPr>
        <p:blipFill>
          <a:blip r:embed="rId3"/>
          <a:srcRect t="522" b="522"/>
          <a:stretch/>
        </p:blipFill>
        <p:spPr>
          <a:xfrm>
            <a:off x="777240" y="1325880"/>
            <a:ext cx="47548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7373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</a:rPr>
              <a:t>Mass bends light paths.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0" y="235915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7C4D8"/>
                </a:solidFill>
              </a:rPr>
              <a:t>If the bending is stronger than visible galaxies predict, we infer extra invisible mass.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0" y="41148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2D6FF"/>
                </a:solidFill>
              </a:rPr>
              <a:t>This is the bridge to weak lensing.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6400800" y="4791456"/>
            <a:ext cx="3657600" cy="0"/>
          </a:xfrm>
          <a:prstGeom prst="line">
            <a:avLst/>
          </a:prstGeom>
          <a:noFill/>
          <a:ln w="1905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NASA/ESA; galaxy cluster with dark matter map / lensing</a:t>
            </a:r>
            <a:endParaRPr lang="en-US" sz="620" dirty="0"/>
          </a:p>
        </p:txBody>
      </p:sp>
      <p:sp>
        <p:nvSpPr>
          <p:cNvPr id="14" name="Text 10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matter takeaway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Dark matter is not seen directly; it is inferred repeatedly from gravity.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737360" y="1874520"/>
            <a:ext cx="1143000" cy="1143000"/>
          </a:xfrm>
          <a:prstGeom prst="ellipse">
            <a:avLst/>
          </a:prstGeom>
          <a:solidFill>
            <a:srgbClr val="FFD166">
              <a:alpha val="18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8FF"/>
                </a:solidFill>
              </a:rPr>
              <a:t>Galaxies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C4D8"/>
                </a:solidFill>
              </a:rPr>
              <a:t>rotation curves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1143000" cy="1143000"/>
          </a:xfrm>
          <a:prstGeom prst="ellipse">
            <a:avLst/>
          </a:prstGeom>
          <a:solidFill>
            <a:srgbClr val="A78BFA">
              <a:alpha val="18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2628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8FF"/>
                </a:solidFill>
              </a:rPr>
              <a:t>Clusters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C4D8"/>
                </a:solidFill>
              </a:rPr>
              <a:t>motions + lensing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1874520"/>
            <a:ext cx="1143000" cy="1143000"/>
          </a:xfrm>
          <a:prstGeom prst="ellipse">
            <a:avLst/>
          </a:prstGeom>
          <a:solidFill>
            <a:srgbClr val="52D6FF">
              <a:alpha val="18000"/>
            </a:srgbClr>
          </a:solidFill>
          <a:ln w="152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0956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8FF"/>
                </a:solidFill>
              </a:rPr>
              <a:t>Cosmic web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0956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C4D8"/>
                </a:solidFill>
              </a:rPr>
              <a:t>structure growth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212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One clue could be a mistake. Many independent clues become a scientific case.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energy: the surprise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Gravity should slow expansion. Observations show the expansion is accelerating.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5029200"/>
            <a:ext cx="42976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97280" y="5029200"/>
            <a:ext cx="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600000">
            <a:off x="1371600" y="1920240"/>
            <a:ext cx="3657600" cy="3017520"/>
          </a:xfrm>
          <a:prstGeom prst="arc">
            <a:avLst/>
          </a:prstGeom>
          <a:solidFill>
            <a:srgbClr val="0B1020">
              <a:alpha val="0"/>
            </a:srgbClr>
          </a:solidFill>
          <a:ln w="2794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6B"/>
                </a:solidFill>
              </a:rPr>
              <a:t>Expected: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6B6B"/>
                </a:solidFill>
              </a:rPr>
              <a:t>slowing down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 rot="-720000">
            <a:off x="6766560" y="2286000"/>
            <a:ext cx="3657600" cy="2468880"/>
          </a:xfrm>
          <a:prstGeom prst="arc">
            <a:avLst/>
          </a:prstGeom>
          <a:solidFill>
            <a:srgbClr val="0B1020">
              <a:alpha val="0"/>
            </a:srgbClr>
          </a:solidFill>
          <a:ln w="279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2D6FF"/>
                </a:solidFill>
              </a:rPr>
              <a:t>Observed: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52D6FF"/>
                </a:solidFill>
              </a:rPr>
              <a:t>speeding 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57424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D166"/>
                </a:solidFill>
              </a:rPr>
              <a:t>“Dark energy” names the unknown cause of this acceleration.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50" b="0">
                <a:solidFill>
                  <a:srgbClr val="B7C4D8"/>
                </a:solidFill>
                <a:latin typeface="Aptos"/>
              </a:rPr>
              <a:t>Lecture 1 · Cosmology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419088"/>
            <a:ext cx="228600" cy="22860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0">
                <a:solidFill>
                  <a:srgbClr val="F5F8FF"/>
                </a:solidFill>
                <a:latin typeface="Aptos Display"/>
              </a:rPr>
              <a:t>How was accelerated expansion discovered?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68680"/>
            <a:ext cx="987552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50" b="0">
                <a:solidFill>
                  <a:srgbClr val="B7C4D8"/>
                </a:solidFill>
                <a:latin typeface="Aptos"/>
              </a:rPr>
              <a:t>Type Ia supernovae let astronomers compare distance with redshift.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170432"/>
            <a:ext cx="1097280" cy="18288"/>
          </a:xfrm>
          <a:prstGeom prst="rect">
            <a:avLst/>
          </a:prstGeom>
          <a:solidFill>
            <a:srgbClr val="52D6FF"/>
          </a:solidFill>
          <a:ln>
            <a:solidFill>
              <a:srgbClr val="52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2148840" cy="100584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52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Find a Type Ia
supernova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274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52D6FF"/>
                </a:solidFill>
                <a:latin typeface="Apto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194560"/>
            <a:ext cx="274320" cy="0"/>
          </a:xfrm>
          <a:prstGeom prst="line">
            <a:avLst/>
          </a:prstGeom>
          <a:ln w="1524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37560" y="1691640"/>
            <a:ext cx="2148840" cy="100584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Use brightness
to estimate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783080"/>
            <a:ext cx="274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194560"/>
            <a:ext cx="274320" cy="0"/>
          </a:xfrm>
          <a:prstGeom prst="line">
            <a:avLst/>
          </a:prstGeom>
          <a:ln w="1524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97880" y="1691640"/>
            <a:ext cx="2148840" cy="100584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Measure redshift
of its host galaxy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1783080"/>
            <a:ext cx="274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Aptos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2440" y="2194560"/>
            <a:ext cx="274320" cy="0"/>
          </a:xfrm>
          <a:prstGeom prst="line">
            <a:avLst/>
          </a:prstGeom>
          <a:ln w="1524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691640"/>
            <a:ext cx="2148840" cy="100584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Compare with
expansion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783080"/>
            <a:ext cx="274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Aptos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4440" y="4251960"/>
            <a:ext cx="3474720" cy="0"/>
          </a:xfrm>
          <a:prstGeom prst="line">
            <a:avLst/>
          </a:prstGeom>
          <a:ln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34440" y="2971800"/>
            <a:ext cx="0" cy="1280160"/>
          </a:xfrm>
          <a:prstGeom prst="line">
            <a:avLst/>
          </a:prstGeom>
          <a:ln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88920" y="4370832"/>
            <a:ext cx="109728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050" b="0">
                <a:solidFill>
                  <a:srgbClr val="B7C4D8"/>
                </a:solidFill>
                <a:latin typeface="Aptos"/>
              </a:rPr>
              <a:t>redshift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3240"/>
            <a:ext cx="8229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50" b="0">
                <a:solidFill>
                  <a:srgbClr val="B7C4D8"/>
                </a:solidFill>
                <a:latin typeface="Aptos"/>
              </a:rPr>
              <a:t>distance
from brightness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417320" y="3200400"/>
            <a:ext cx="3108960" cy="777239"/>
          </a:xfrm>
          <a:prstGeom prst="line">
            <a:avLst/>
          </a:prstGeom>
          <a:ln w="25400">
            <a:solidFill>
              <a:srgbClr val="52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49039" y="2971800"/>
            <a:ext cx="164592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52D6FF"/>
                </a:solidFill>
                <a:latin typeface="Aptos"/>
              </a:rPr>
              <a:t>simple slowing model</a:t>
            </a:r>
          </a:p>
        </p:txBody>
      </p:sp>
      <p:sp>
        <p:nvSpPr>
          <p:cNvPr id="25" name="Oval 24"/>
          <p:cNvSpPr/>
          <p:nvPr/>
        </p:nvSpPr>
        <p:spPr>
          <a:xfrm>
            <a:off x="1828800" y="3794760"/>
            <a:ext cx="109728" cy="109728"/>
          </a:xfrm>
          <a:prstGeom prst="ellipse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77440" y="3611880"/>
            <a:ext cx="109728" cy="109728"/>
          </a:xfrm>
          <a:prstGeom prst="ellipse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926080" y="3401568"/>
            <a:ext cx="109728" cy="109728"/>
          </a:xfrm>
          <a:prstGeom prst="ellipse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20440" y="3154680"/>
            <a:ext cx="109728" cy="109728"/>
          </a:xfrm>
          <a:prstGeom prst="ellipse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160520" y="2834640"/>
            <a:ext cx="109728" cy="109728"/>
          </a:xfrm>
          <a:prstGeom prst="ellipse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3063240"/>
            <a:ext cx="2377440" cy="7315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FFD166"/>
                </a:solidFill>
                <a:latin typeface="Aptos"/>
              </a:rPr>
              <a:t>distant supernovae
appeared dimmer/farther
than expected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17720" y="2880360"/>
            <a:ext cx="457200" cy="274320"/>
          </a:xfrm>
          <a:prstGeom prst="line">
            <a:avLst/>
          </a:prstGeom>
          <a:ln w="1524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35240" y="2926080"/>
            <a:ext cx="3474720" cy="141732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Inference:
expansion was slower in the past
than it is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332720" cy="5029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B7C4D8"/>
                </a:solidFill>
                <a:latin typeface="Aptos"/>
              </a:rPr>
              <a:t>Key idea: the discovery came from comparing two measurements — distance and redshift — not from directly “seeing” dark energy.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50" b="0">
                <a:solidFill>
                  <a:srgbClr val="B7C4D8"/>
                </a:solidFill>
                <a:latin typeface="Aptos"/>
              </a:rPr>
              <a:t>Lecture 1 · Cosmology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419088"/>
            <a:ext cx="228600" cy="22860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0">
                <a:solidFill>
                  <a:srgbClr val="F5F8FF"/>
                </a:solidFill>
                <a:latin typeface="Aptos Display"/>
              </a:rPr>
              <a:t>Why stellar tracers matter: the distance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68680"/>
            <a:ext cx="9966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50" b="0">
                <a:solidFill>
                  <a:srgbClr val="B7C4D8"/>
                </a:solidFill>
                <a:latin typeface="Aptos"/>
              </a:rPr>
              <a:t>To measure cosmic expansion, astronomers first need reliable distances.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170432"/>
            <a:ext cx="1097280" cy="18288"/>
          </a:xfrm>
          <a:prstGeom prst="rect">
            <a:avLst/>
          </a:prstGeom>
          <a:solidFill>
            <a:srgbClr val="52D6FF"/>
          </a:solidFill>
          <a:ln>
            <a:solidFill>
              <a:srgbClr val="52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84632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 “standard candle” is an object whose true brightness can be estimated.
Compare true brightness with observed brightness → infer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4617720" cy="100584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420" b="0">
                <a:solidFill>
                  <a:srgbClr val="F5F8FF"/>
                </a:solidFill>
                <a:latin typeface="Aptos"/>
              </a:rPr>
              <a:t>Supernovae are not ordinary stars:
they are stellar explosions, but their brightness is calibrated using stellar-distance tracers.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92608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52D6FF"/>
                </a:solidFill>
                <a:latin typeface="Aptos"/>
              </a:rPr>
              <a:t>Distance ladder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966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50" b="0">
                <a:solidFill>
                  <a:srgbClr val="B7C4D8"/>
                </a:solidFill>
                <a:latin typeface="Aptos"/>
              </a:rPr>
              <a:t>Each rung is calibrated by the previous rung, so far-away measurements depend on careful nearby measurements.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2514600" cy="86868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52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Nearby stars
parallax gives
direct distances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74136" y="4599431"/>
            <a:ext cx="228600" cy="0"/>
          </a:xfrm>
          <a:prstGeom prst="line">
            <a:avLst/>
          </a:prstGeom>
          <a:ln w="1397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4160520"/>
            <a:ext cx="2514600" cy="86868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Cepheid variables
pulsing stars reveal
intrinsic brightness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08776" y="4599431"/>
            <a:ext cx="228600" cy="0"/>
          </a:xfrm>
          <a:prstGeom prst="line">
            <a:avLst/>
          </a:prstGeom>
          <a:ln w="1397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92240" y="4160520"/>
            <a:ext cx="2514600" cy="86868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Type Ia supernovae
standard candles
in far galaxies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43416" y="4599431"/>
            <a:ext cx="228600" cy="0"/>
          </a:xfrm>
          <a:prstGeom prst="line">
            <a:avLst/>
          </a:prstGeom>
          <a:ln w="13970">
            <a:solidFill>
              <a:srgbClr val="B7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4160520"/>
            <a:ext cx="2514600" cy="868680"/>
          </a:xfrm>
          <a:prstGeom prst="roundRect">
            <a:avLst/>
          </a:prstGeom>
          <a:solidFill>
            <a:srgbClr val="0B102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Expansion history
distance + redshift
trace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04688"/>
            <a:ext cx="1051560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580" b="0">
                <a:solidFill>
                  <a:srgbClr val="B7C4D8"/>
                </a:solidFill>
                <a:latin typeface="Aptos"/>
              </a:rPr>
              <a:t>Exam-style chain: stellar tracer → distance estimate → redshift comparison → expansion history → dark energy question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 history: deceleration then acceleration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Matter dominated earlier; dark energy dominates today.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osmology_assets/dark_energy_expansion.jpg"/>
          <p:cNvPicPr>
            <a:picLocks noChangeAspect="1"/>
          </p:cNvPicPr>
          <p:nvPr/>
        </p:nvPicPr>
        <p:blipFill>
          <a:blip r:embed="rId3"/>
          <a:srcRect l="16016" r="16016"/>
          <a:stretch/>
        </p:blipFill>
        <p:spPr>
          <a:xfrm>
            <a:off x="822960" y="1371600"/>
            <a:ext cx="530352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</a:rPr>
              <a:t>Earlier universe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12280" y="22677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Matter was denser, so gravity strongly affected expansion.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2D6FF"/>
                </a:solidFill>
              </a:rPr>
              <a:t>Recent universe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12280" y="36393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4D8"/>
                </a:solidFill>
              </a:rPr>
              <a:t>Dark energy becomes more important; expansion accelerates.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6560" y="4800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D166"/>
                </a:solidFill>
              </a:rPr>
              <a:t>This motivates precision cosmology.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583680" y="647395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8090A8"/>
                </a:solidFill>
              </a:rPr>
              <a:t>Image: NASA Scientific Visualization Studio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energy intuition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Think of two competing effects on cosmic distances.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</a:rPr>
              <a:t>Gravity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91440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7C4D8"/>
                </a:solidFill>
              </a:rPr>
              <a:t>pulls matter together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D6FF"/>
                </a:solidFill>
              </a:rPr>
              <a:t>Dark energy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006840" y="2560320"/>
            <a:ext cx="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06840" y="2560320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066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7C4D8"/>
                </a:solidFill>
              </a:rPr>
              <a:t>drives accelerated 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166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Cosmology asks: which effect dominates at each time?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know vs. what remains open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This is why cosmology is still active research.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52D6FF"/>
                </a:solidFill>
              </a:rPr>
              <a:t>Strong evidence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5F8FF"/>
                </a:solidFill>
              </a:rPr>
              <a:t>• expansion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8FF"/>
                </a:solidFill>
              </a:rPr>
              <a:t>• CMB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8FF"/>
                </a:solidFill>
              </a:rPr>
              <a:t>• galaxy growth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8FF"/>
                </a:solidFill>
              </a:rPr>
              <a:t>• gravitational lensing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80760" y="1463040"/>
            <a:ext cx="0" cy="420624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72B6"/>
                </a:solidFill>
              </a:rPr>
              <a:t>Open questions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03720" y="2029968"/>
            <a:ext cx="411480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5F8FF"/>
                </a:solidFill>
              </a:rPr>
              <a:t>• What is dark matter?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F5F8FF"/>
                </a:solidFill>
              </a:rPr>
              <a:t>• What is dark energy?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F5F8FF"/>
                </a:solidFill>
              </a:rPr>
              <a:t>• How biased are our measurements?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F5F8FF"/>
                </a:solidFill>
              </a:rPr>
              <a:t>• How do systematics affect inference?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Observational probes: different windows on the same universe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A probe is a measurement strategy that reveals one part of the cosmic story.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463040" y="1920240"/>
            <a:ext cx="1005840" cy="1005840"/>
          </a:xfrm>
          <a:prstGeom prst="ellipse">
            <a:avLst/>
          </a:prstGeom>
          <a:solidFill>
            <a:srgbClr val="FFD166">
              <a:alpha val="18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CMB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B7C4D8"/>
                </a:solidFill>
              </a:rPr>
              <a:t>early-universe radiation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1005840" cy="1005840"/>
          </a:xfrm>
          <a:prstGeom prst="ellipse">
            <a:avLst/>
          </a:prstGeom>
          <a:solidFill>
            <a:srgbClr val="52D6FF">
              <a:alpha val="18000"/>
            </a:srgbClr>
          </a:solidFill>
          <a:ln w="15240">
            <a:solidFill>
              <a:srgbClr val="52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0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B7C4D8"/>
                </a:solidFill>
              </a:rPr>
              <a:t>3D galaxy positions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1920240"/>
            <a:ext cx="1005840" cy="1005840"/>
          </a:xfrm>
          <a:prstGeom prst="ellipse">
            <a:avLst/>
          </a:prstGeom>
          <a:solidFill>
            <a:srgbClr val="A78BFA">
              <a:alpha val="18000"/>
            </a:srgbClr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11880" y="328611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Supernovae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359436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B7C4D8"/>
                </a:solidFill>
              </a:rPr>
              <a:t>expansion history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29800" y="1920240"/>
            <a:ext cx="1005840" cy="1005840"/>
          </a:xfrm>
          <a:prstGeom prst="ellipse">
            <a:avLst/>
          </a:prstGeom>
          <a:solidFill>
            <a:srgbClr val="F472B6">
              <a:alpha val="18000"/>
            </a:srgbClr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8972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Weak lensing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9720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B7C4D8"/>
                </a:solidFill>
              </a:rPr>
              <a:t>mass through shape distortions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530352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No single probe is perfect. Agreement across probes builds confidence.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30</a:t>
            </a:r>
            <a:endParaRPr lang="en-US" sz="85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9011B0C-ECEB-BE6C-650D-DA184D65C9EF}"/>
              </a:ext>
            </a:extLst>
          </p:cNvPr>
          <p:cNvSpPr/>
          <p:nvPr/>
        </p:nvSpPr>
        <p:spPr>
          <a:xfrm>
            <a:off x="6400800" y="328611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Redshift surveys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large-scale structure is a data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The universe gives us maps, not direct answers.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52D6FF">
              <a:alpha val="20000"/>
            </a:srgbClr>
          </a:solidFill>
          <a:ln w="12700">
            <a:solidFill>
              <a:srgbClr val="52D6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673352"/>
            <a:ext cx="10972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4721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8FF"/>
                </a:solidFill>
              </a:rPr>
              <a:t>positions, redshifts, shapes, brightness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4D7CFE">
              <a:alpha val="20000"/>
            </a:srgbClr>
          </a:solidFill>
          <a:ln w="12700">
            <a:solidFill>
              <a:srgbClr val="4D7CFE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724912"/>
            <a:ext cx="10972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0" y="25237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8FF"/>
                </a:solidFill>
              </a:rPr>
              <a:t>calibration, noise removal, selection effects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5204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43000" y="36576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3776472"/>
            <a:ext cx="10972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0" y="35753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8FF"/>
                </a:solidFill>
              </a:rPr>
              <a:t>cosmological parameters + astrophysical systematics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45720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43000" y="4709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</a:rPr>
              <a:t>Output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4828032"/>
            <a:ext cx="1097280" cy="0"/>
          </a:xfrm>
          <a:prstGeom prst="line">
            <a:avLst/>
          </a:prstGeom>
          <a:noFill/>
          <a:ln w="15240">
            <a:solidFill>
              <a:srgbClr val="B7C4D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0" y="46268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8FF"/>
                </a:solidFill>
              </a:rPr>
              <a:t>constraints and uncertainty ranges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566928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This is where scientific machine learning becomes useful.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29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373171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to the project: weak lensing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Weak lensing uses many tiny galaxy-shape distortions to map matter.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51560" y="2240280"/>
            <a:ext cx="1097280" cy="658368"/>
          </a:xfrm>
          <a:prstGeom prst="ellipse">
            <a:avLst/>
          </a:prstGeom>
          <a:solidFill>
            <a:srgbClr val="FFD166">
              <a:alpha val="25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43000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galaxy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image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587752"/>
            <a:ext cx="1280160" cy="0"/>
          </a:xfrm>
          <a:prstGeom prst="line">
            <a:avLst/>
          </a:prstGeom>
          <a:noFill/>
          <a:ln w="1905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251960" y="2057400"/>
            <a:ext cx="1097280" cy="960120"/>
          </a:xfrm>
          <a:prstGeom prst="ellipse">
            <a:avLst/>
          </a:prstGeom>
          <a:solidFill>
            <a:srgbClr val="4D7CFE">
              <a:alpha val="12000"/>
            </a:srgbClr>
          </a:solidFill>
          <a:ln w="15240">
            <a:solidFill>
              <a:srgbClr val="4D7C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70832" y="2395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D6FF"/>
                </a:solidFill>
              </a:rPr>
              <a:t>mass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2D6FF"/>
                </a:solidFill>
              </a:rPr>
              <a:t>field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587752"/>
            <a:ext cx="1280160" cy="0"/>
          </a:xfrm>
          <a:prstGeom prst="line">
            <a:avLst/>
          </a:prstGeom>
          <a:noFill/>
          <a:ln w="1905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 rot="1200000">
            <a:off x="7315200" y="2148840"/>
            <a:ext cx="1143000" cy="530352"/>
          </a:xfrm>
          <a:prstGeom prst="ellipse">
            <a:avLst/>
          </a:prstGeom>
          <a:solidFill>
            <a:srgbClr val="F472B6">
              <a:alpha val="25000"/>
            </a:srgbClr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26948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slightly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distorted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2587752"/>
            <a:ext cx="1005840" cy="0"/>
          </a:xfrm>
          <a:prstGeom prst="line">
            <a:avLst/>
          </a:prstGeom>
          <a:noFill/>
          <a:ln w="19050">
            <a:solidFill>
              <a:srgbClr val="52D6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149840" y="2395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</a:rPr>
              <a:t>statistics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12064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D166"/>
                </a:solidFill>
              </a:rPr>
              <a:t>Problem for later: galaxy shapes are affected by lensing AND by astrophysical systematics.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Mini-activity: build a reasoning 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Choose one observation and connect it to one cosmology claim.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32</a:t>
            </a:r>
            <a:endParaRPr lang="en-US" sz="85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640080" y="1746504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2276856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0080" y="2807208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3337560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" y="3867911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" y="4398264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080" y="4928616"/>
            <a:ext cx="10442448" cy="0"/>
          </a:xfrm>
          <a:prstGeom prst="line">
            <a:avLst/>
          </a:prstGeom>
          <a:ln w="7620">
            <a:solidFill>
              <a:srgbClr val="253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43200" y="1975104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32120" y="1975104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18120" y="1975104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43200" y="2505456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32120" y="2505456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18120" y="2505456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43200" y="3035808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532120" y="3035808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18120" y="3035808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743200" y="3566160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3566160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818120" y="3566160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743200" y="4096511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32120" y="4096511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18120" y="4096511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43200" y="4626864"/>
            <a:ext cx="21031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32120" y="4626864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18120" y="4626864"/>
            <a:ext cx="256032" cy="0"/>
          </a:xfrm>
          <a:prstGeom prst="line">
            <a:avLst/>
          </a:prstGeom>
          <a:ln w="10160">
            <a:solidFill>
              <a:srgbClr val="3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0080" y="1307592"/>
            <a:ext cx="205740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2D6FF"/>
                </a:solidFill>
                <a:latin typeface="Aptos"/>
              </a:rPr>
              <a:t>Observation / probe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63240" y="1307592"/>
            <a:ext cx="24231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A78BFA"/>
                </a:solidFill>
                <a:latin typeface="Aptos"/>
              </a:rPr>
              <a:t>Evidence pattern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1307592"/>
            <a:ext cx="1874519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FFD166"/>
                </a:solidFill>
                <a:latin typeface="Aptos"/>
              </a:rPr>
              <a:t>Inference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1307592"/>
            <a:ext cx="26517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F472B6"/>
                </a:solidFill>
                <a:latin typeface="Aptos"/>
              </a:rPr>
              <a:t>Open question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1792224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redshift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1792224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farther galaxies
→ more redshift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1792224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space expands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1792224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how fast today?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2322576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Type Ia supernovae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63240" y="2322576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dimmer/farther
than expected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2322576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acceleration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79" y="2322576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what is dark energy?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2852928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rotation curves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63240" y="2852928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outer stars
too fast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2852928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dark matter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79" y="2852928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what particle?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3383279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CMB ripples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3240" y="3383279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tiny early
differences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97880" y="3383279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seeds of structure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3383279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which parameters?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3913631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galaxy clustering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3240" y="3913631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non-random
3D galaxy map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80" y="3913631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cosmic web growth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83879" y="3913631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how fast structure grows?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443983"/>
            <a:ext cx="205740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40" b="1">
                <a:solidFill>
                  <a:srgbClr val="FFFFFF"/>
                </a:solidFill>
                <a:latin typeface="Aptos"/>
              </a:rPr>
              <a:t>weak lensing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63240" y="4443983"/>
            <a:ext cx="24231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galaxy shapes
slightly aligned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97880" y="4443983"/>
            <a:ext cx="1874519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mass map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83879" y="4443983"/>
            <a:ext cx="2651760" cy="47548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20" b="0">
                <a:solidFill>
                  <a:srgbClr val="F5F8FF"/>
                </a:solidFill>
                <a:latin typeface="Aptos"/>
              </a:rPr>
              <a:t>how large are systematics?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" y="5376672"/>
            <a:ext cx="1005840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650" b="0">
                <a:solidFill>
                  <a:srgbClr val="B7C4D8"/>
                </a:solidFill>
                <a:latin typeface="Aptos"/>
              </a:rPr>
              <a:t>Student task: choose one chain and explain it aloud in 60 seconds. Then say one possible systematic error.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summary: five big ideas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These are the ideas the next lecture will build 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60120" y="1527048"/>
            <a:ext cx="329184" cy="256032"/>
          </a:xfrm>
          <a:prstGeom prst="rect">
            <a:avLst/>
          </a:prstGeom>
          <a:solidFill>
            <a:srgbClr val="52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1490472"/>
            <a:ext cx="457200" cy="457200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60934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72768" y="1508760"/>
            <a:ext cx="9052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5F8FF"/>
                </a:solidFill>
              </a:rPr>
              <a:t>The universe has a history.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2304288"/>
            <a:ext cx="329184" cy="256032"/>
          </a:xfrm>
          <a:prstGeom prst="rect">
            <a:avLst/>
          </a:prstGeom>
          <a:solidFill>
            <a:srgbClr val="52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267712"/>
            <a:ext cx="457200" cy="457200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38658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72768" y="2286000"/>
            <a:ext cx="9052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5F8FF"/>
                </a:solidFill>
              </a:rPr>
              <a:t>Expansion stretches light, causing redshift.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" y="3081528"/>
            <a:ext cx="329184" cy="256032"/>
          </a:xfrm>
          <a:prstGeom prst="rect">
            <a:avLst/>
          </a:prstGeom>
          <a:solidFill>
            <a:srgbClr val="52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044952"/>
            <a:ext cx="457200" cy="457200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16382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72768" y="3063240"/>
            <a:ext cx="9052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5F8FF"/>
                </a:solidFill>
              </a:rPr>
              <a:t>The CMB preserves early-universe information.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329184" cy="256032"/>
          </a:xfrm>
          <a:prstGeom prst="rect">
            <a:avLst/>
          </a:prstGeom>
          <a:solidFill>
            <a:srgbClr val="52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3822192"/>
            <a:ext cx="457200" cy="457200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94106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72768" y="3840480"/>
            <a:ext cx="9052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5F8FF"/>
                </a:solidFill>
              </a:rPr>
              <a:t>Dark matter and dark energy are inferred from observations.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0120" y="4636008"/>
            <a:ext cx="329184" cy="256032"/>
          </a:xfrm>
          <a:prstGeom prst="rect">
            <a:avLst/>
          </a:prstGeom>
          <a:solidFill>
            <a:srgbClr val="52D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52D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471830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72768" y="4617720"/>
            <a:ext cx="9052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5F8FF"/>
                </a:solidFill>
              </a:rPr>
              <a:t>Large-scale structure is a map of cosmic evolution.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43000" y="5715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Next: weak lensing and intrinsic alignment.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 · Cosmology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after Lecture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4D8"/>
                </a:solidFill>
              </a:rPr>
              <a:t>Write a 300-word summary.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1097280" cy="0"/>
          </a:xfrm>
          <a:prstGeom prst="line">
            <a:avLst/>
          </a:prstGeom>
          <a:noFill/>
          <a:ln w="27940">
            <a:solidFill>
              <a:srgbClr val="52D6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86868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D6FF"/>
                </a:solidFill>
              </a:rPr>
              <a:t>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8FF"/>
                </a:solidFill>
              </a:rPr>
              <a:t>Why does cosmology need observational probes?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Mention at least two examples: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310128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52D6FF">
              <a:alpha val="15000"/>
            </a:srgbClr>
          </a:solidFill>
          <a:ln w="12700">
            <a:solidFill>
              <a:srgbClr val="52D6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8328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52D6FF"/>
                </a:solidFill>
              </a:rPr>
              <a:t>redshift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794760" y="3310128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338328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A78BFA"/>
                </a:solidFill>
              </a:rPr>
              <a:t>CMB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675120" y="3310128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FFD166">
              <a:alpha val="15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338328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D166"/>
                </a:solidFill>
              </a:rPr>
              <a:t>galaxy surveys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14400" y="3877056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4D7CFE">
              <a:alpha val="15000"/>
            </a:srgbClr>
          </a:solidFill>
          <a:ln w="12700">
            <a:solidFill>
              <a:srgbClr val="4D7CFE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950208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4D7CFE"/>
                </a:solidFill>
              </a:rPr>
              <a:t>dark matter evidence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794760" y="3877056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F472B6">
              <a:alpha val="15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3950208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472B6"/>
                </a:solidFill>
              </a:rPr>
              <a:t>large-scale structure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F"/>
                </a:solidFill>
              </a:rPr>
              <a:t>Success criteria: clear explanation, one concrete observation, one inference, and one open question.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1750040" y="6428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7C4D8"/>
                </a:solidFill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2864</TotalTime>
  <Words>2940</Words>
  <Application>Microsoft Macintosh PowerPoint</Application>
  <PresentationFormat>Widescreen</PresentationFormat>
  <Paragraphs>466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IAFlowCloud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Cosmology Background</dc:title>
  <dc:subject>Lecture 1: Cosmology Background</dc:subject>
  <dc:creator>OpenAI</dc:creator>
  <cp:lastModifiedBy>Yunhao Zhang</cp:lastModifiedBy>
  <cp:revision>4</cp:revision>
  <dcterms:created xsi:type="dcterms:W3CDTF">2026-07-07T05:40:11Z</dcterms:created>
  <dcterms:modified xsi:type="dcterms:W3CDTF">2026-07-09T08:24:52Z</dcterms:modified>
</cp:coreProperties>
</file>